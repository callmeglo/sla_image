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mừng. Mục tiêu workshop: sau buổi này mọi người tự mở và đọc được báo cáo SLA. Báo cáo trả lời: hồ sơ có nhanh không, có tồn đọng không, kẹt ở đâu.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Lướt nhanh agenda. Nhấn mạnh: phần thao tác cốt lõi và tình huống thực tế là quan trọng nhất với người dùng cuối.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khung tư duy. Mọi biểu đồ trong báo cáo đều phục vụ một trong ba câu hỏi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 mọi người xem toàn cảnh. Nhấn: luôn bắt đầu từ Tổng quan để định hướng, rồi mới đi sâu.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từng số trên ảnh. Đây là bản đồ màn hình — nhớ 5 khu vực này là dùng được mọi trang.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bằng ngôn ngữ đời thường. Tránh thuật ngữ kỹ thuật. Hỏi xem có ai chưa rõ khái niệm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'ngôn ngữ màu' của toàn báo cáo. Đỏ = xử lý ngay. Ngưỡng 3 ngày có thể chỉnh sau theo loại hồ sơ.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Thẻ KPI thay đổi theo bộ lọc. Hướng người dùng tới 2 thẻ quan trọng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trang gom theo 4 nhóm nghiệp vụ. Demo bấm chuyển trang thật nếu có máy chiếu kết nối báo cáo.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thể chọn nhiều giá trị trong một bộ lọc và kết hợp nhiều bộ lọc. Luôn nhắc nút Xóa bộ lọc.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quan trọng nhất với người dùng cuối. Nếu được, demo trực tiếp cả 3 thao tác trên báo cáo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công cụ chẩn đoán mạnh nhất. Đỏ đậm = kẹt. Dùng để biết nên tác động vào bước nào của quy trình.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cầu nối giữa con số trên dashboard và hồ sơ thật trên ERP. Dùng khi phát hiện bất thường.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qua từng tình huống. Khuyến khích người tham dự nêu tình huống của họ và cùng thao tác.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xử lý sự cố nhanh. Nhấn: gặp lỗi lạ thì Xóa bộ lọc trước. Mọi thắc mắc liên hệ bộ phận triển khai.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lại 4 thao tác cốt lõi. Mở phần hỏi đáp và demo trực tiếp theo yêu cầu người tham dự.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0E4A2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2522F"/>
          </a:solidFill>
          <a:ln w="12700">
            <a:solidFill>
              <a:srgbClr val="5BA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POWER BI · CC1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sử dụng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SLA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D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triển khai cho toàn công 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3291840" cy="0"/>
          </a:xfrm>
          <a:prstGeom prst="line">
            <a:avLst/>
          </a:prstGeom>
          <a:noFill/>
          <a:ln w="25400">
            <a:solidFill>
              <a:srgbClr val="5BA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20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7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thời gian xử lý hồ sơ · Tuân thủ SLA · Giảm tồn đọng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6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dành cho người dùng cuối — kể cả khi chưa từng dùng Power BI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CC1 — Tổng công ty Xây dựng số 1 — CTCP   ·   06/2026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Hôm nay chúng ta sẽ đi qua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002536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icons/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323" y="2145731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Vì sao có báo cáo SLA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178308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56248" y="2002536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icons/compas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443" y="2145731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8308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Làm quen màn hình &amp; điều hướng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297180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24128" y="3191256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icons/boo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23" y="3334451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9718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Khái niệm &amp; khung SLA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55080" y="297180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56248" y="3191256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icons/gaug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443" y="3334451"/>
            <a:ext cx="243962" cy="2439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297180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Đọc chỉ số (KPI) &amp; biểu đồ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822960" y="416052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24128" y="4379976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icons/han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323" y="4523171"/>
            <a:ext cx="243962" cy="2439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16052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3 thao tác cốt lõi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355080" y="416052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56248" y="4379976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6" name="Image 5" descr="icons/tabl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443" y="4523171"/>
            <a:ext cx="243962" cy="2439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416052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Bảng giai đoạn &amp; trang Chi tiết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822960" y="534924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1024128" y="5568696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30" name="Image 6" descr="icons/lis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323" y="5711891"/>
            <a:ext cx="243962" cy="24396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737360" y="534924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Tình huống thực tế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355080" y="5349240"/>
            <a:ext cx="52120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556248" y="5568696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34" name="Image 7" descr="icons/chec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443" y="5711891"/>
            <a:ext cx="243962" cy="24396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69480" y="5349240"/>
            <a:ext cx="4160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Lưu ý khi sử dụng &amp; hỏi đáp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SLA trả lời 3 câu hỏi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31720"/>
            <a:ext cx="868680" cy="868680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icons/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264" y="256626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38328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nhanh không?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88720" y="3977640"/>
            <a:ext cx="2770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mất bao nhiêu ngày để xử lý xong, và có đúng hạn cam kết (SLA) không.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192024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2331720"/>
            <a:ext cx="868680" cy="868680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icons/inbox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24" y="256626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338328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tồn đọng không?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983480" y="3977640"/>
            <a:ext cx="2770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nhiêu hồ sơ còn đang chờ, đang kẹt ở phòng ban / dự án nào.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412480" y="1920240"/>
            <a:ext cx="3502152" cy="3200400"/>
          </a:xfrm>
          <a:prstGeom prst="roundRect">
            <a:avLst>
              <a:gd name="adj" fmla="val 2571"/>
            </a:avLst>
          </a:prstGeom>
          <a:solidFill>
            <a:srgbClr val="FDEDE9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78240" y="2331720"/>
            <a:ext cx="868680" cy="868680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icons/targ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784" y="256626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3383280"/>
            <a:ext cx="2770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Kẹt ở đâu?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778240" y="3977640"/>
            <a:ext cx="2770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nào trong quy trình làm hồ sơ chậm nhất để xử lý đúng chỗ.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không cần biết Power BI — chỉ cần biết bấm chuột.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TỔNG THỂ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Trang Tổng quan — bắt đầu từ đây</a:t>
            </a:r>
            <a:endParaRPr lang="en-US" sz="3200" dirty="0"/>
          </a:p>
        </p:txBody>
      </p:sp>
      <p:pic>
        <p:nvPicPr>
          <p:cNvPr id="4" name="Image 0" descr="slideimg/over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7955280" cy="45628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91640"/>
            <a:ext cx="7955280" cy="4562856"/>
          </a:xfrm>
          <a:prstGeom prst="roundRect">
            <a:avLst>
              <a:gd name="adj" fmla="val 1002"/>
            </a:avLst>
          </a:prstGeom>
          <a:ln w="12700">
            <a:solidFill>
              <a:srgbClr val="D8E6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06840" y="182880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89720" y="19751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cảnh SLA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89720" y="2359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xu hướng + top phòng ban/dự án.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006840" y="329184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89720" y="3438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bắt đầu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89720" y="38221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chiều cần đi sâu, rồi mở trang chi tiết.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006840" y="475488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89720" y="49011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cập nhật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89720" y="52852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bộ lọc → mọi số liệu đổi theo.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QUEN MÀN HÌNH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khu vực cần nhớ</a:t>
            </a:r>
            <a:endParaRPr lang="en-US" sz="3200" dirty="0"/>
          </a:p>
        </p:txBody>
      </p:sp>
      <p:pic>
        <p:nvPicPr>
          <p:cNvPr id="4" name="Image 0" descr="slideimg/tou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7315200" cy="4197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783080"/>
            <a:ext cx="475488" cy="47548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142" y="1911462"/>
            <a:ext cx="218724" cy="2187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66760" y="2679192"/>
            <a:ext cx="475488" cy="47548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2" descr="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142" y="2807574"/>
            <a:ext cx="218724" cy="21872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366760" y="3575304"/>
            <a:ext cx="475488" cy="47548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3" descr="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142" y="3703686"/>
            <a:ext cx="218724" cy="21872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8366760" y="4471416"/>
            <a:ext cx="475488" cy="475488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4" descr="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142" y="4599798"/>
            <a:ext cx="218724" cy="218724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8366760" y="5367528"/>
            <a:ext cx="475488" cy="47548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5" descr="icons/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142" y="5495910"/>
            <a:ext cx="218724" cy="218724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8366760" y="1783080"/>
            <a:ext cx="475488" cy="47548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8"/>
          <p:cNvSpPr/>
          <p:nvPr/>
        </p:nvSpPr>
        <p:spPr>
          <a:xfrm>
            <a:off x="836676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8988552" y="172821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  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loại hồ sơ; Trang chủ; HDSD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8366760" y="2679192"/>
            <a:ext cx="475488" cy="47548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836676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8988552" y="262432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bộ lọc  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thời gian, phòng ban, dự án…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8366760" y="3575304"/>
            <a:ext cx="475488" cy="47548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8366760" y="3575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8988552" y="35204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chỉ số (KPI)  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nhanh tình hình SLA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8366760" y="4471416"/>
            <a:ext cx="475488" cy="47548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8366760" y="4471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8988552" y="441655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biểu đồ  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để lọc chéo các biểu đồ khác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8366760" y="5367528"/>
            <a:ext cx="475488" cy="47548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366760" y="5367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8988552" y="53126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Trở về  </a:t>
            </a:r>
            <a:pPr indent="0" marL="0">
              <a:lnSpc>
                <a:spcPct val="100000"/>
              </a:lnSpc>
              <a:buNone/>
            </a:pP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lại trạng thái trước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khái niệm là đủ để đọc báo cáo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48840"/>
            <a:ext cx="566928" cy="56692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icons/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063" y="23019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75688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 sơ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478024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yêu cầu/chứng từ đi qua quy trình duyệt.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187452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2148840"/>
            <a:ext cx="566928" cy="566928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icons/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823" y="230191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075688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Giai đoạn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2478024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bước duyệt (Lập → TP → GĐ → Đã ký).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87452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148840"/>
            <a:ext cx="566928" cy="56692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icon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583" y="230191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075688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(hạn xử lý)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72600" y="2478024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tối đa mỗi giai đoạn — mặc định 3 ngày.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35661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78992" y="3840480"/>
            <a:ext cx="566928" cy="566928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63" y="39935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767328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/ Trễ hạn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83080" y="4169664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hạn SLA = đúng hạn; vượt = trễ hạn.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617720" y="356616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73752" y="3840480"/>
            <a:ext cx="566928" cy="56692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6" name="Image 4" descr="icons/inbox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823" y="3993551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3767328"/>
            <a:ext cx="2404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/ Chưa đóng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577840" y="4169664"/>
            <a:ext cx="2404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tất quy trình hay còn đang chờ.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SLA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ước màu SLA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mặc định: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cho mỗi giai đoạn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0E4A2A"/>
          </a:solidFill>
          <a:ln w="25400">
            <a:solidFill>
              <a:srgbClr val="106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62556" y="2788920"/>
            <a:ext cx="822960" cy="82296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hạn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2519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&lt; 0.8 — xử lý thoải mái trong hạn.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17720" y="24231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0E4A2A"/>
          </a:solidFill>
          <a:ln w="25400">
            <a:solidFill>
              <a:srgbClr val="C9A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57316" y="2788920"/>
            <a:ext cx="822960" cy="822960"/>
          </a:xfrm>
          <a:prstGeom prst="ellipse">
            <a:avLst/>
          </a:prstGeom>
          <a:solidFill>
            <a:srgbClr val="C9A10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74904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Gần hạn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42519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0.8 – 1.0 — sắp chạm ngưỡng, cần theo dõi.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0" y="242316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0E4A2A"/>
          </a:solidFill>
          <a:ln w="25400">
            <a:solidFill>
              <a:srgbClr val="FF3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52076" y="2788920"/>
            <a:ext cx="822960" cy="822960"/>
          </a:xfrm>
          <a:prstGeom prst="ellipse">
            <a:avLst/>
          </a:prstGeom>
          <a:solidFill>
            <a:srgbClr val="FF31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74904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Quá hạn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32520" y="42519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&gt; 1.0 — đã vượt 3 ngày, vi phạm SLA.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SLA = số ngày trung bình ÷ 3.   Màu này xuất hiện ở bảng &amp; biểu đồ để bạn nhận biết nhanh điểm nóng.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thẻ KPI — đọc nhanh tình hình</a:t>
            </a:r>
            <a:endParaRPr lang="en-US" sz="3200" dirty="0"/>
          </a:p>
        </p:txBody>
      </p:sp>
      <p:pic>
        <p:nvPicPr>
          <p:cNvPr id="4" name="Image 0" descr="slideimg/kp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6675120" cy="2670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83080"/>
            <a:ext cx="3611880" cy="950976"/>
          </a:xfrm>
          <a:prstGeom prst="roundRect">
            <a:avLst>
              <a:gd name="adj" fmla="val 8654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8928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Compliance Rate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01000" y="2258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hồ sơ đúng hạn — càng cao càng tốt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862072"/>
            <a:ext cx="3611880" cy="950976"/>
          </a:xfrm>
          <a:prstGeom prst="roundRect">
            <a:avLst>
              <a:gd name="adj" fmla="val 8654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2971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&gt; SLA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01000" y="33375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chưa đóng &amp; đã quá hạn — xử lý ngay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3941064"/>
            <a:ext cx="361188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0100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Cycle Time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001000" y="44165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xử lý TB của hồ sơ đã đóng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5020056"/>
            <a:ext cx="361188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01000" y="51297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Count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01000" y="54955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hồ sơ đã đóng nhưng trễ hạn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8463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Hai chỉ số cần để mắt nhất: SLA Compliance Rate &amp; Pending &gt; SLA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trang bằng thanh công cụ</a:t>
            </a:r>
            <a:endParaRPr lang="en-US" sz="3200" dirty="0"/>
          </a:p>
        </p:txBody>
      </p:sp>
      <p:pic>
        <p:nvPicPr>
          <p:cNvPr id="4" name="Image 0" descr="slideimg/toolb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315200" cy="1207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783080"/>
            <a:ext cx="7315200" cy="1207008"/>
          </a:xfrm>
          <a:prstGeom prst="roundRect">
            <a:avLst>
              <a:gd name="adj" fmla="val 3788"/>
            </a:avLst>
          </a:prstGeom>
          <a:ln w="12700">
            <a:solidFill>
              <a:srgbClr val="D8E6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338328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24128" y="3630168"/>
            <a:ext cx="512064" cy="512064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1" descr="icons/sitem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85" y="3768425"/>
            <a:ext cx="235549" cy="235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3511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lắp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91640" y="3886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AB · PAKD (XL) · Hợp đồng BB'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338328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56248" y="3630168"/>
            <a:ext cx="512064" cy="512064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icons/sitem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05" y="37684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3511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Cư &amp; Chọn thầu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223760" y="3886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PAKD (Trading) · PO · PR · SO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52628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24128" y="4773168"/>
            <a:ext cx="512064" cy="512064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icons/sitema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85" y="491142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654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Tạm ứng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691640" y="5029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Tạm ứng (VP) · Tạm ứng (BĐH)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452628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56248" y="4773168"/>
            <a:ext cx="512064" cy="512064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3" name="Image 4" descr="icons/sitema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505" y="4911425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4654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Thanh toán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223760" y="5029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(VP) · Thanh toán (BĐH)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27532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Trang chủ → về Tổng quan bất cứ lúc nào.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bộ lọc dùng chung mọi trang</a:t>
            </a:r>
            <a:endParaRPr lang="en-US" sz="3200" dirty="0"/>
          </a:p>
        </p:txBody>
      </p:sp>
      <p:pic>
        <p:nvPicPr>
          <p:cNvPr id="4" name="Image 0" descr="slideimg/slic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23317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20440" y="178308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721608" y="2167128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icons/calend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803" y="2310323"/>
            <a:ext cx="243962" cy="243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912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23500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khoảng ngày (between)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863840" y="178308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065008" y="2167128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icons/sitem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203" y="2310323"/>
            <a:ext cx="243962" cy="2439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32520" y="1965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xử lý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732520" y="23500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giai đoạn xử lý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520440" y="320040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721608" y="3584448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icons/buildin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803" y="3727643"/>
            <a:ext cx="243962" cy="2439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Khối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389120" y="37673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BĐH / khối nghiệp vụ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63840" y="320040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65008" y="3584448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icons/building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203" y="3727643"/>
            <a:ext cx="243962" cy="2439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32520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Phòng ban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732520" y="37673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ban phụ trách hồ sơ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520440" y="461772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721608" y="5001768"/>
            <a:ext cx="530352" cy="530352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5" descr="icons/compas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803" y="5144963"/>
            <a:ext cx="243962" cy="2439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8912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án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389120" y="51846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liên quan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863840" y="4617720"/>
            <a:ext cx="4069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065008" y="5001768"/>
            <a:ext cx="530352" cy="530352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32" name="Image 6" descr="icons/users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8203" y="5144963"/>
            <a:ext cx="243962" cy="24396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3252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vị thụ hưởng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732520" y="518464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cung cấp / đơn vị nhận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5204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Bấm “Xóa bộ lọc” để reset tất cả về mặc định.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CỐT LÕI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cần nhớ 3 thao tác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16836" y="2331720"/>
            <a:ext cx="914400" cy="914400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icons/ey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724" y="2578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370332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Rê chuột để xem số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43891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chuột lên một cột/điểm → hiện chú giải (tooltip) với con số chính xác.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11596" y="2331720"/>
            <a:ext cx="914400" cy="914400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icons/h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484" y="257860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8328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2040" y="370332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Bấm để lọc chéo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937760" y="43891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một cột → mọi biểu đồ khác trên trang lọc theo. Bấm vùng trống để bỏ lọc.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412480" y="19202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FDEDE9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06356" y="2331720"/>
            <a:ext cx="914400" cy="914400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8" name="Image 2" descr="icons/sear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244" y="257860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383280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3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86800" y="370332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Chuột phải → Drill through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732520" y="438912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Chuột phải vào dự án/phòng ban → Drill through → trang Chi tiết, tự lọc đúng giá trị.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ĐIỂM KẸT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giai đoạn &amp; màu SLA</a:t>
            </a:r>
            <a:endParaRPr lang="en-US" sz="3200" dirty="0"/>
          </a:p>
        </p:txBody>
      </p:sp>
      <p:pic>
        <p:nvPicPr>
          <p:cNvPr id="4" name="Image 0" descr="slideimg/piv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640080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737360"/>
            <a:ext cx="6400800" cy="3703320"/>
          </a:xfrm>
          <a:prstGeom prst="roundRect">
            <a:avLst>
              <a:gd name="adj" fmla="val 1235"/>
            </a:avLst>
          </a:prstGeom>
          <a:ln w="12700">
            <a:solidFill>
              <a:srgbClr val="D8E6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tìm nút thắt (bottleneck)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8080" y="2468880"/>
            <a:ext cx="365760" cy="365760"/>
          </a:xfrm>
          <a:prstGeom prst="ellipse">
            <a:avLst/>
          </a:prstGeom>
          <a:solidFill>
            <a:srgbClr val="5BA85C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tách quy trình thành từng giai đoạn, kèm Số ngày TB.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8080" y="3429000"/>
            <a:ext cx="365760" cy="365760"/>
          </a:xfrm>
          <a:prstGeom prst="ellipse">
            <a:avLst/>
          </a:prstGeom>
          <a:solidFill>
            <a:srgbClr val="5BA85C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1000" y="33832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 càng đỏ đậm = giai đoạn đó mất càng nhiều thời gian.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498080" y="4389120"/>
            <a:ext cx="365760" cy="365760"/>
          </a:xfrm>
          <a:prstGeom prst="ellipse">
            <a:avLst/>
          </a:prstGeom>
          <a:solidFill>
            <a:srgbClr val="FF3100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43434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đỏ nhất chính là nơi hồ sơ bị ứ đọng — ưu tiên xử lý ở đó.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Trang Chi tiết &amp; mở hồ sơ gốc</a:t>
            </a:r>
            <a:endParaRPr lang="en-US" sz="3200" dirty="0"/>
          </a:p>
        </p:txBody>
      </p:sp>
      <p:pic>
        <p:nvPicPr>
          <p:cNvPr id="4" name="Image 0" descr="slideimg/look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680960" cy="22494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783080"/>
            <a:ext cx="7680960" cy="2249424"/>
          </a:xfrm>
          <a:prstGeom prst="roundRect">
            <a:avLst>
              <a:gd name="adj" fmla="val 2033"/>
            </a:avLst>
          </a:prstGeom>
          <a:ln w="12700">
            <a:solidFill>
              <a:srgbClr val="D8E6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từng hồ sơ: </a:t>
            </a:r>
            <a:pPr indent="0" marL="0">
              <a:buNone/>
            </a:pPr>
            <a:r>
              <a:rPr lang="en-US" sz="1400" b="1" dirty="0">
                <a:solidFill>
                  <a:srgbClr val="10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· Mô tả · Nhóm workflow · Giai đoạn · Link ERP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778240" y="178308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AF4EE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hồ sơ gốc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961120" y="2423160"/>
            <a:ext cx="365760" cy="36576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18320" y="2377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hồ sơ (dùng bộ lọc thu hẹp).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61120" y="3264408"/>
            <a:ext cx="365760" cy="36576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0" y="32186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icon Link cột cuối.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61120" y="4105656"/>
            <a:ext cx="365760" cy="36576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18320" y="405993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hồ sơ trên Odoo / Xboss để đối chiếu.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THỰC TẾ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“Tôi muốn…”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06B3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muốn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Biết phòng ban nào chậm nhất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→ lọc Thời gian → xem biểu đồ Thời gian xử lý TB theo phòng ban.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06B3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muốn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hồ sơ tồn của một dự án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29400" y="26060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Dự án → chuột phải → Drill through → Chi tiết → lọc Chưa đóng.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023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0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muốn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995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Biết quy trình kẹt ở bước nào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trang loại hồ sơ → xem bảng giai đoạn → ô đỏ đậm nhất.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79476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023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106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Tôi muốn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995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nhiều phòng ban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29400" y="4572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bộ lọc Phòng ban → tích nhiều phòng ban → đọc biểu đồ.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KHI SỬ DỤNG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Vài điều nên nhớ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566928" cy="566928"/>
          </a:xfrm>
          <a:prstGeom prst="ellipse">
            <a:avLst/>
          </a:prstGeom>
          <a:solidFill>
            <a:srgbClr val="FF3100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icons/war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631" y="24390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đồ trống?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do bộ lọc quá hẹp → bấm “Xóa bộ lọc”.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51" y="24390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03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thực (PRODUCTION)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15200" y="253288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phản ánh thời điểm làm mới gần nhất.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34747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3886200"/>
            <a:ext cx="566928" cy="566928"/>
          </a:xfrm>
          <a:prstGeom prst="ellipse">
            <a:avLst/>
          </a:prstGeom>
          <a:solidFill>
            <a:srgbClr val="5BA85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icons/filt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31" y="403927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033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loại hồ sơ log lỗi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13308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có thể lệch nhẹ so với hệ thống gốc.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47472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6D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886200"/>
            <a:ext cx="566928" cy="566928"/>
          </a:xfrm>
          <a:prstGeom prst="ellipse">
            <a:avLst/>
          </a:prstGeom>
          <a:solidFill>
            <a:srgbClr val="106B3C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21" name="Image 3" descr="icons/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751" y="403927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7033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Ngưỡng SLA = 3 ngày/giai đoạn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15200" y="413308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điều chỉnh ở phiên bản sau.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E4A2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06B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&amp; Hỏi đáp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D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từ Tổng quan · Lọc · Bấm để lọc chéo · Chuột phải để xem chi tiết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3291840" cy="0"/>
          </a:xfrm>
          <a:prstGeom prst="line">
            <a:avLst/>
          </a:prstGeom>
          <a:noFill/>
          <a:ln w="25400">
            <a:solidFill>
              <a:srgbClr val="5BA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sử dụng: Bộ phận triển khai BI · anh.tnp@cc1.vn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CC1 — Tổng công ty Xây dựng số 1 — CTCP   ·   Báo cáo SLA · Power BI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HDSD Bao cao SLA</dc:title>
  <dc:subject>PptxGenJS Presentation</dc:subject>
  <dc:creator>CC1</dc:creator>
  <cp:lastModifiedBy>CC1</cp:lastModifiedBy>
  <cp:revision>1</cp:revision>
  <dcterms:created xsi:type="dcterms:W3CDTF">2026-06-12T10:59:26Z</dcterms:created>
  <dcterms:modified xsi:type="dcterms:W3CDTF">2026-06-12T10:59:26Z</dcterms:modified>
</cp:coreProperties>
</file>